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3bA67VPPnCvzlWeQhjf_AqsYt_E7-RHO/view?usp=shari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926080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468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A2239"/>
                </a:solidFill>
              </a:rPr>
              <a:t>ROUND 2  —  BHARAT ACADEMIX CODEQUEST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851" y="69951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 err="1">
                <a:solidFill>
                  <a:srgbClr val="FFFFFF"/>
                </a:solidFill>
              </a:rPr>
              <a:t>AarogyaKul</a:t>
            </a:r>
            <a:endParaRPr sz="4400" b="1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2C39A"/>
                </a:solidFill>
              </a:rPr>
              <a:t>We Built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DD"/>
                </a:solidFill>
              </a:rPr>
              <a:t>A fully working AI-powered family health platform — built from the ground up in Round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88920"/>
            <a:ext cx="1371600" cy="74980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&lt;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82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AI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2788920"/>
            <a:ext cx="1371600" cy="74980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92807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18+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3182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REST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65576" y="2788920"/>
            <a:ext cx="1371600" cy="74980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65576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7-Stage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182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AI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28600"/>
            <a:ext cx="3611880" cy="46634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creenshot 2026-06-22 214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74320"/>
            <a:ext cx="3520440" cy="2148840"/>
          </a:xfrm>
          <a:prstGeom prst="rect">
            <a:avLst/>
          </a:prstGeom>
        </p:spPr>
      </p:pic>
      <p:pic>
        <p:nvPicPr>
          <p:cNvPr id="20" name="Picture 19" descr="Screenshot 2026-06-22 2145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87168"/>
            <a:ext cx="3520440" cy="2148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20040" y="47731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Team FutureStack  •  Akshat Barve  •  Soumya Barve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CAD701-745E-E69D-0C71-2C4384E189BD}"/>
              </a:ext>
            </a:extLst>
          </p:cNvPr>
          <p:cNvSpPr/>
          <p:nvPr/>
        </p:nvSpPr>
        <p:spPr>
          <a:xfrm>
            <a:off x="352044" y="4123944"/>
            <a:ext cx="1229985" cy="2926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B36D18-21AD-D801-30AC-AFE20B476DBD}"/>
              </a:ext>
            </a:extLst>
          </p:cNvPr>
          <p:cNvSpPr txBox="1"/>
          <p:nvPr/>
        </p:nvSpPr>
        <p:spPr>
          <a:xfrm>
            <a:off x="316238" y="4151376"/>
            <a:ext cx="11141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i="0" dirty="0">
                <a:solidFill>
                  <a:srgbClr val="0A2239"/>
                </a:solidFill>
                <a:hlinkClick r:id="rId4"/>
              </a:rPr>
              <a:t>DEMO VIDEO</a:t>
            </a:r>
            <a:endParaRPr sz="1100" b="1" i="0" dirty="0">
              <a:solidFill>
                <a:srgbClr val="0A22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2239"/>
                </a:solidFill>
              </a:rPr>
              <a:t>What We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8C9E"/>
                </a:solidFill>
              </a:rPr>
              <a:t>Every feature promised in Round 1 — built and working.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261872"/>
            <a:ext cx="38404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280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AI Report Reader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19072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7-stage pipeline: PDFBox + OCR + Llama 3.1 extracts, compares, and summarises lab parameters in plain English.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97280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269748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408" y="1261872"/>
            <a:ext cx="384048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4408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280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Document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719072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Centralized storage for 8 document types — blood reports, prescriptions, bills, insurance, X-rays, and more.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097280"/>
            <a:ext cx="2697480" cy="36576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1261872"/>
            <a:ext cx="384048" cy="384048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280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Multi-Profile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719072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Netflix-style family profile picker. Each member has fully independent health data under one account.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98063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798063"/>
            <a:ext cx="26974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2962656"/>
            <a:ext cx="384048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29626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Health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419856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Auto-generated timeline events on every upload. Add doctor visits, vaccinations, and health notes manually.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2798063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54680" y="2798063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64408" y="2962656"/>
            <a:ext cx="38404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64408" y="29626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Clinical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3419856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Record allergies with severity levels, chronic conditions with diagnosis dates — all per family member.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798063"/>
            <a:ext cx="26974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5040" y="2798063"/>
            <a:ext cx="269748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4768" y="2962656"/>
            <a:ext cx="384048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4768" y="29626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239"/>
                </a:solidFill>
              </a:rPr>
              <a:t>Smart AI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419856"/>
            <a:ext cx="2468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8C9E"/>
                </a:solidFill>
              </a:rPr>
              <a:t>Color-coded anomaly flags, trend arrows, reference ranges, and AI-generated plain-English summaries.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544568"/>
            <a:ext cx="8595360" cy="310896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544568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C39A"/>
                </a:solidFill>
              </a:rPr>
              <a:t>✓  Authentication  •  ✓  Family Profiles  •  ✓  Document Upload (S3)  •  ✓  AI Pipeline  •  ✓  Timeline  •  ✓  Clinical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Live, functional application — not a mockup.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87552"/>
            <a:ext cx="4224528" cy="2011679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6-22 214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33272"/>
            <a:ext cx="4133088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" y="2761488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Secure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987552"/>
            <a:ext cx="4224528" cy="2011679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6-22 2145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33272"/>
            <a:ext cx="4133088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7448" y="2761488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Profile Picker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3017520"/>
            <a:ext cx="4224528" cy="2011679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6-22 2145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063240"/>
            <a:ext cx="4133088" cy="1737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608" y="4791456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Personal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3017520"/>
            <a:ext cx="4224528" cy="2011679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6-22 2145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063240"/>
            <a:ext cx="4133088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27448" y="4791456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Document Vault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2239"/>
                </a:solidFill>
              </a:rPr>
              <a:t>AI Report Reader — 7-Stage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8C9E"/>
                </a:solidFill>
              </a:rPr>
              <a:t>Transforms a raw PDF into actionable health intelligence in under 3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417320"/>
            <a:ext cx="1097280" cy="2560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3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3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3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Validate PDF
≤15MB, store
via S3/Local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7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82495" y="1417320"/>
            <a:ext cx="109728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82495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5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5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PDFBox text
+ OCR fallback
(Tesseract)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19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7" y="1417320"/>
            <a:ext cx="1097280" cy="2560320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7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7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7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Llama 3.1
JSON extraction
+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1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59" y="1417320"/>
            <a:ext cx="1097280" cy="2560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59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Synonym map
26 variants →
12 canonical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3792" y="1417320"/>
            <a:ext cx="1097280" cy="2560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Persist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Save Medical
Parameter
rows to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1417320"/>
            <a:ext cx="1097280" cy="2560320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64224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Query prior
value → Δ &amp;
trend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4231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34655" y="1417320"/>
            <a:ext cx="1097280" cy="2560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34655" y="1490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5" y="185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Summarize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0375" y="2167128"/>
            <a:ext cx="1005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DD"/>
                </a:solidFill>
              </a:rPr>
              <a:t>Llama plain-
English AI
summary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14800"/>
            <a:ext cx="2697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4114800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15137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PDFBox + OCR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3708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C9E"/>
                </a:solidFill>
              </a:rPr>
              <a:t>Handles both digital and scanned PDFs — never fails on image-based lab reports.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72968" y="4114800"/>
            <a:ext cx="2697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72968" y="4114800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64408" y="415137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JSON Recovery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4408" y="43708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C9E"/>
                </a:solidFill>
              </a:rPr>
              <a:t>Strips markdown fences, regex-recovers partial JSON from LLM output.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71616" y="4114800"/>
            <a:ext cx="26974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71616" y="4114800"/>
            <a:ext cx="2697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63056" y="415137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Clinically Meaningful Trend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3056" y="43708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8C9E"/>
                </a:solidFill>
              </a:rPr>
              <a:t>Values moving toward normal midpoint = IMPROVING, even if still out of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Insights —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Real output from a real blood report processed through the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4343400" cy="338328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6-22 214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05840"/>
            <a:ext cx="425196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" y="4005072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Flagged Parameters with HIGH/LOW badges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960120"/>
            <a:ext cx="4069080" cy="338328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6-22 2146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005840"/>
            <a:ext cx="3977639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73168" y="4005072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Plain-English AI Summary per 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4343400"/>
            <a:ext cx="8549640" cy="56692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4407408"/>
            <a:ext cx="8366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DD"/>
                </a:solidFill>
              </a:rPr>
              <a:t>Real extraction output: Blood Glucose 105 (HIGH), HbA1c 6.1% (HIGH), LDL 118 (HIGH), Vitamin D 22 (LOW) — all with reference ranges and trend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19" y="9601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077" y="535576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2C39A"/>
                </a:solidFill>
              </a:rPr>
              <a:t>Production-grade full-stack architecture with async AI 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051560"/>
            <a:ext cx="219456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React 19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380743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SPA · Vite · Tailwind · Recharts · Axios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2011680"/>
            <a:ext cx="219456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07568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Spring Boot 3.5 / Java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40864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REST Controllers · JWT Filter · Services · JPA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2971800"/>
            <a:ext cx="2194560" cy="777240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303580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Spring Security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300984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HS256 JWT · BCrypt-12 · Stateless filter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051560"/>
            <a:ext cx="2194560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111556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Pipeline (Async)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380743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@Async executor · 2-4 threads · Queue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194560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207568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HuggingFace Llama 3.1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40864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Structured extraction · Plain-English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971800"/>
            <a:ext cx="219456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3035808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PDFBox + Tesseract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300984"/>
            <a:ext cx="20116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Dual-mode extraction · 250 DPI fallback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1051560"/>
            <a:ext cx="257860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115568"/>
            <a:ext cx="23957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PostgreSQL 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380743"/>
            <a:ext cx="239572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ACID · UUID PKs · 9 entities · BigDecimal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2011680"/>
            <a:ext cx="25786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2075688"/>
            <a:ext cx="23957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AWS S3 SDK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340864"/>
            <a:ext cx="239572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Pre-signed URLs · Regional bucket · Pluggable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2971800"/>
            <a:ext cx="2578608" cy="777240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3035808"/>
            <a:ext cx="23957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300984"/>
            <a:ext cx="239572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One-command PostgreSQL dev provisioning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21031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9A825"/>
                </a:solidFill>
              </a:rPr>
              <a:t>HTTPS + JWT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78608" y="23317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</a:rPr>
              <a:t>←→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1031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9A825"/>
                </a:solidFill>
              </a:rPr>
              <a:t>JPA /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3317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</a:rPr>
              <a:t>←→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841248"/>
            <a:ext cx="2194560" cy="1828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84124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2239"/>
                </a:solidFill>
              </a:rPr>
              <a:t>CLIENT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841248"/>
            <a:ext cx="2194560" cy="1828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84124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2239"/>
                </a:solidFill>
              </a:rPr>
              <a:t>AI LAYER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841248"/>
            <a:ext cx="2578608" cy="1828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1072" y="841248"/>
            <a:ext cx="2578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2239"/>
                </a:solidFill>
              </a:rPr>
              <a:t>DATA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4082796"/>
            <a:ext cx="854964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3217" y="4100432"/>
            <a:ext cx="8549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FFFFFF"/>
                </a:solidFill>
              </a:rPr>
              <a:t>User → React → Axios (JWT Bearer) → Spring Security → Controller → Service → JPA → 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" y="4511912"/>
            <a:ext cx="8549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CDDDD"/>
                </a:solidFill>
              </a:rPr>
              <a:t>All upload responses return 202 Accepted immediately; AI pipeline runs async on bounded thread pool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2239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8C9E"/>
                </a:solidFill>
              </a:rPr>
              <a:t>Modern, production-grade tools — every version chosen deliberately.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24128"/>
            <a:ext cx="265176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024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6517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4630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React 19  —  Hooks, concurrent features, component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66544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Vite 8  —  Sub-second HMR, native ESM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Tailwind CSS 4  —  Utility-first with semantic color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735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Recharts 2  —  Health trend charts, composable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877056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React Router 7  —  Nested layouts, private 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24128"/>
            <a:ext cx="265176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1024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37160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54680" y="1371600"/>
            <a:ext cx="265176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64408" y="14630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Spring Boot 3.5 / Java 21  —  Virtual threads,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066544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Spring Security 6  —  Stateless JWT filter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Spring Data JPA  —  Repository abstraction over Hibernate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32735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Apache PDFBox 3  —  Pure-Java PDF text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3877056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Tess4j (Tesseract 5)  —  OCR for scanned 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024128"/>
            <a:ext cx="265176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1024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 &amp;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37160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1371600"/>
            <a:ext cx="265176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99048" y="14630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PostgreSQL 17  —  ACID, UUID PKs, BigDecimal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066544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AWS S3 SDK v2  —  Pre-signed URLs, pluggable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HuggingFace Inference API  —  Managed Llama 3.1 8B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2735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Docker Compose  —  One-command local DB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3877056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A2239"/>
                </a:solidFill>
              </a:rPr>
              <a:t>• Axios 1.9  —  JWT interceptors, error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Scalability &amp;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Every architectural choice built for growth — not just for the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87552"/>
            <a:ext cx="265176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1498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Async AI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24358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9844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Upload returns 202 Accepted instantly. AI runs on @Async bounded executor (core=2, max=4, queue=20). Frontend polls at 5s intervals — auto-stops when complete.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31136"/>
            <a:ext cx="2505456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228600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Prevents HTTP timeout under AI latency. Handles 20 concurrent uploads without resource exhaustion.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987552"/>
            <a:ext cx="265176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101498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Pluggable 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124358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29844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StorageService interface with LocalStorageService and S3StorageService implementations. Switch via config — zero code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2231136"/>
            <a:ext cx="2505456" cy="182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28600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Dev uses local FS, prod uses S3. Cloud-ready from day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2" y="987552"/>
            <a:ext cx="2651760" cy="256032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9904" y="101498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UUID Primary Keys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6752" y="124358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129844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All 9 entities use UUID PKs — no sequential integers exposed in URLs. Ownership chain: User → Family → FamilyMember → all downstream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2231136"/>
            <a:ext cx="2505456" cy="18288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08192" y="228600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Prevents ID enumeration attacks and enables horizontal scaling without key conflicts.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2907792"/>
            <a:ext cx="265176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93522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Parameter Canonicalization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16382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21868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Static synonym map: 26 input variants → 12 canonical names. 'HbA1c' from Lab A matches 'Glycated Hemoglobin' from Lab B for trend comparison.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51376"/>
            <a:ext cx="2505456" cy="182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420624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Deterministic matching guarantees consistent longitudinal analysis across different lab formats.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2907792"/>
            <a:ext cx="2651760" cy="25603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27832" y="293522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BigDecimal for Medical Values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79" y="316382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321868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All lab values stored as BigDecimal — never floating-point. Comparison and trend calculation use exact decimal arithmetic.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4151376"/>
            <a:ext cx="2505456" cy="182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420624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Floating-point imprecision is unacceptable in clinical data — a value of 7.10000001 is not 7.1.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6752" y="2907792"/>
            <a:ext cx="265176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9904" y="2935224"/>
            <a:ext cx="2505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Ownership-Scoped Authorization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16752" y="3163824"/>
            <a:ext cx="2651760" cy="1572768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08192" y="3218688"/>
            <a:ext cx="2468879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DD"/>
                </a:solidFill>
              </a:rPr>
              <a:t>Every data access passes through requireOwnedMember(memberId, userId) — does member belong to a family owned by this user? Hard 403 if not.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9904" y="4151376"/>
            <a:ext cx="2505456" cy="182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08192" y="4206240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2C39A"/>
                </a:solidFill>
              </a:rPr>
              <a:t>Why it matters: Prevents any cross-user data access. Security enforced at service layer, not just controller.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2239"/>
                </a:solidFill>
              </a:rPr>
              <a:t>Security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8C9E"/>
                </a:solidFill>
              </a:rPr>
              <a:t>Healthcare data demands production-grade security — implemented, not planned.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24128"/>
            <a:ext cx="4023360" cy="3758184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Authentication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User submits email + 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34947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343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Spring Security → AuthService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1913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039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BCrypt.matches() password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7363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JwtUtil.generate() → HS256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584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4329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Token stored in localStorage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02812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11296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All requests: Authorization: Bearer &lt;token&gt;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19779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28262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JwtFilter validates on every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36745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8090"/>
                </a:solidFill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522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32F2F"/>
                </a:solidFill>
              </a:rPr>
              <a:t>403 Forbidden if ownership check fails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024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239"/>
                </a:solidFill>
              </a:rPr>
              <a:t>Security Measures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1371600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14173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Password Hashing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20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BCrypt, cost factor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1801368"/>
            <a:ext cx="4297680" cy="402336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18470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Token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4708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HS256 (HMAC-SHA256), 24h expiry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231136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22768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CORS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27685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8C9E"/>
                </a:solidFill>
              </a:rPr>
              <a:t>Explicit origin whitelist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660904"/>
            <a:ext cx="4297680" cy="402336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70662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File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06624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PDF MIME + extension + 15 MB cap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3090672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313639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S3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136391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Short-lived pre-signed URLs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3520439"/>
            <a:ext cx="4297680" cy="402336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356615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SQL Injection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566159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JPA parameterized queries — no raw SQL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950208"/>
            <a:ext cx="42976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17720" y="39959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DTO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95928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JPA entities never serialized to HTTP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26280" y="4379976"/>
            <a:ext cx="4297680" cy="402336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17720" y="442569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239"/>
                </a:solidFill>
              </a:rPr>
              <a:t>Ownership 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425696"/>
            <a:ext cx="2514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8C9E"/>
                </a:solidFill>
              </a:rPr>
              <a:t>User → Family → Member chain enforced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2017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User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Built for the 300M+ Indian families managing health records the hard 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005840"/>
            <a:ext cx="263347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11338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77M+
Diabetics 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7190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Chronic patients need longitudinal HbA1c, blood glucose, and cholesterol tracking — AarogyaKul makes trends visible at a glance.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1005840"/>
            <a:ext cx="2633472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27248" y="10607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6976" y="11338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Scattered Records
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7190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Average family has reports on WhatsApp, email, paper, and hospital portals. AarogyaKul consolidates all 8 document types in one vault.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1005840"/>
            <a:ext cx="2633472" cy="54864"/>
          </a:xfrm>
          <a:prstGeom prst="rect">
            <a:avLst/>
          </a:prstGeom>
          <a:solidFill>
            <a:srgbClr val="14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61888" y="10607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1616" y="11338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Caregivers
Managing Parents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17190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One tech-savvy family member manages health records for elderly parents — our Netflix-style profiles are designed exactly for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834640"/>
            <a:ext cx="263347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2608" y="28895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29626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Doctor Visit
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35478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Patients arrive with a complete AI-generated summary: past reports, flagged anomalies, trend directions — saving clinical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34640"/>
            <a:ext cx="263347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27248" y="28895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36976" y="29626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Consumer App
Does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35478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No Indian consumer health app automatically extracts, compares, and explains blood test values. AarogyaKul is first-of-its-kind.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2834640"/>
            <a:ext cx="2633472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61888" y="2889504"/>
            <a:ext cx="2633472" cy="1682496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71616" y="2962656"/>
            <a:ext cx="2414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Setup,
Instant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3547872"/>
            <a:ext cx="2414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DD"/>
                </a:solidFill>
              </a:rPr>
              <a:t>Upload a PDF → get structured parameters, trend comparison, and AI summary in under 3 seconds — no manual data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Health Timeline &amp; Clinical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Every interaction with the healthcare system — logged, searchable, and contextual.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87552"/>
            <a:ext cx="4224528" cy="32918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6-22 2146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33271"/>
            <a:ext cx="4133087" cy="28163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" y="3858768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2C39A"/>
                </a:solidFill>
              </a:rPr>
              <a:t>Health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4078224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Auto-events on every upload + manual doctor visits, vaccinations,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3168" y="987552"/>
            <a:ext cx="4069080" cy="32918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6-22 214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033271"/>
            <a:ext cx="3977639" cy="2816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73168" y="3858768"/>
            <a:ext cx="4069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2C39A"/>
                </a:solidFill>
              </a:rPr>
              <a:t>Clinical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4078224"/>
            <a:ext cx="4069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Allergies with severity, chronic conditions with diagnosis dates, per member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A2239"/>
                </a:solidFill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8090"/>
                </a:solidFill>
              </a:rPr>
              <a:t>What we built in each round of CodeQuest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24128"/>
            <a:ext cx="2606040" cy="3858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2606040" cy="512064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606040" cy="36576"/>
          </a:xfrm>
          <a:prstGeom prst="rect">
            <a:avLst/>
          </a:prstGeom>
          <a:solidFill>
            <a:srgbClr val="8A9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60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6B73"/>
                </a:solidFill>
              </a:rPr>
              <a:t>Round 1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1673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A6B73"/>
                </a:solidFill>
              </a:rPr>
              <a:t>Idea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3"/>
                </a:solidFill>
              </a:rPr>
              <a:t>✓ Problem statement defined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848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3"/>
                </a:solidFill>
              </a:rPr>
              <a:t>✓ Solution architecture designed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23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3"/>
                </a:solidFill>
              </a:rPr>
              <a:t>✓ Tech stack finalized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962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3"/>
                </a:solidFill>
              </a:rPr>
              <a:t>✓ DB schema &amp; API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3"/>
                </a:solidFill>
              </a:rPr>
              <a:t>✓ Feature roadmap presented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1024128"/>
            <a:ext cx="2606040" cy="3858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7248" y="1024128"/>
            <a:ext cx="2606040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27248" y="1024128"/>
            <a:ext cx="260604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27248" y="1060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Round 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31673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Prototype — 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16459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Auth + JWT security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0848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Netflix-style family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2523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Document vault (8 types + S3)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2962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7-stage AI pipeline (live)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Health timeline (auto + manual)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3840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Clinical notes (allergies + conditions)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4279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✓ AI insights with trend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34456" y="1024128"/>
            <a:ext cx="2606040" cy="3858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34456" y="1024128"/>
            <a:ext cx="2606040" cy="5120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34456" y="1024128"/>
            <a:ext cx="260604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34456" y="10607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2239"/>
                </a:solidFill>
              </a:rPr>
              <a:t>Grand Finale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456" y="131673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2239"/>
                </a:solidFill>
              </a:rPr>
              <a:t>Full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184" y="16459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Medication tracking + refill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44184" y="20848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FHIR R4 data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4184" y="25237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Hindi / regional AI summaries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44184" y="2962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Smart push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4184" y="3401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Consent-based doctor sharing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44184" y="3840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AES-256 at-rest encryption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4184" y="4279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239"/>
                </a:solidFill>
              </a:rPr>
              <a:t>• Audit trails for compliance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Round 2 delivered ALL planned features — including the AI Report Reader that is live and demo-ready today.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74320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2239"/>
                </a:solidFill>
              </a:rPr>
              <a:t>BHARAT ACADEMIX CODEQUEST 2026  —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2179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AarogyaKul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C39A"/>
                </a:solidFill>
              </a:rPr>
              <a:t>One platform. Every family member. Total health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DD"/>
                </a:solidFill>
              </a:rPr>
              <a:t>An AI-powered healthcare platform that transforms scattered medical PDFs
into structured, comparable, actionable family health 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2286000" cy="16916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" y="2962656"/>
            <a:ext cx="47548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9626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239"/>
                </a:solidFill>
              </a:rPr>
              <a:t>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98094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Akshat Barve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323697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02C39A"/>
                </a:solidFill>
              </a:rPr>
              <a:t>Backend &amp; Cloud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3744467"/>
            <a:ext cx="20665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" y="3895343"/>
            <a:ext cx="20665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CDDDD"/>
                </a:solidFill>
              </a:rPr>
              <a:t>Java · Spring Boot · AWS · System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834640"/>
            <a:ext cx="2286000" cy="16916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44368" y="2962656"/>
            <a:ext cx="475488" cy="47548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44368" y="29626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2239"/>
                </a:solidFill>
              </a:rPr>
              <a:t>SB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98094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Soumya Barve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23697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9A825"/>
                </a:solidFill>
              </a:rPr>
              <a:t>Frontend &amp; Product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3512" y="3735976"/>
            <a:ext cx="2066543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35225" y="3892730"/>
            <a:ext cx="20665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CDDDD"/>
                </a:solidFill>
              </a:rPr>
              <a:t>React · TypeScript · UI/UX · Tailwind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274320"/>
            <a:ext cx="3474720" cy="4663440"/>
          </a:xfrm>
          <a:prstGeom prst="rect">
            <a:avLst/>
          </a:prstGeom>
          <a:solidFill>
            <a:srgbClr val="0F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365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What we built: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74980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32120" y="914400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3" y="1444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AI pipeline stages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74980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914400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18+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1444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REST API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16712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32120" y="2331720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6983" y="2862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database entities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16712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2331720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8624" y="2862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parameter synonyms mapped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358444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32120" y="3749039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&lt;3s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6983" y="42793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AI extraction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584448"/>
            <a:ext cx="1572768" cy="1261872"/>
          </a:xfrm>
          <a:prstGeom prst="rect">
            <a:avLst/>
          </a:prstGeom>
          <a:solidFill>
            <a:srgbClr val="0A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0" y="3749039"/>
            <a:ext cx="1572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C39A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4" y="42793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DDD"/>
                </a:solidFill>
              </a:rPr>
              <a:t>document types supported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8C9E"/>
                </a:solidFill>
              </a:rPr>
              <a:t>Team FutureStack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1679</Words>
  <Application>Microsoft Office PowerPoint</Application>
  <PresentationFormat>On-screen Show (16:9)</PresentationFormat>
  <Paragraphs>258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Akshat Barve</cp:lastModifiedBy>
  <cp:revision>6</cp:revision>
  <dcterms:created xsi:type="dcterms:W3CDTF">2013-01-27T09:14:16Z</dcterms:created>
  <dcterms:modified xsi:type="dcterms:W3CDTF">2026-06-22T18:02:57Z</dcterms:modified>
  <cp:category/>
</cp:coreProperties>
</file>